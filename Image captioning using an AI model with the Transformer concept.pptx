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29LT Bukra" panose="020B0604020202020204" charset="-78"/>
      <p:regular r:id="rId14"/>
    </p:embeddedFont>
    <p:embeddedFont>
      <p:font typeface="29LT Bukra Bold" panose="020B0604020202020204" charset="-78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2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143500"/>
            <a:ext cx="18288000" cy="5100089"/>
            <a:chOff x="0" y="0"/>
            <a:chExt cx="4816593" cy="13432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343233"/>
            </a:xfrm>
            <a:custGeom>
              <a:avLst/>
              <a:gdLst/>
              <a:ahLst/>
              <a:cxnLst/>
              <a:rect l="l" t="t" r="r" b="b"/>
              <a:pathLst>
                <a:path w="4816592" h="1343233">
                  <a:moveTo>
                    <a:pt x="0" y="0"/>
                  </a:moveTo>
                  <a:lnTo>
                    <a:pt x="4816592" y="0"/>
                  </a:lnTo>
                  <a:lnTo>
                    <a:pt x="4816592" y="1343233"/>
                  </a:lnTo>
                  <a:lnTo>
                    <a:pt x="0" y="1343233"/>
                  </a:lnTo>
                  <a:close/>
                </a:path>
              </a:pathLst>
            </a:custGeom>
            <a:solidFill>
              <a:srgbClr val="30303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4816593" cy="14670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772380" y="2701974"/>
            <a:ext cx="4606223" cy="4606223"/>
          </a:xfrm>
          <a:custGeom>
            <a:avLst/>
            <a:gdLst/>
            <a:ahLst/>
            <a:cxnLst/>
            <a:rect l="l" t="t" r="r" b="b"/>
            <a:pathLst>
              <a:path w="4606223" h="4606223">
                <a:moveTo>
                  <a:pt x="0" y="0"/>
                </a:moveTo>
                <a:lnTo>
                  <a:pt x="4606223" y="0"/>
                </a:lnTo>
                <a:lnTo>
                  <a:pt x="4606223" y="4606224"/>
                </a:lnTo>
                <a:lnTo>
                  <a:pt x="0" y="46062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8224679"/>
            <a:ext cx="10000026" cy="132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29"/>
              </a:lnSpc>
            </a:pPr>
            <a:r>
              <a:rPr lang="en-US" sz="34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IMAGE CAPTIONING USING AN AI MODEL WITH THE TRANSFORMER CONCEPT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60721" y="278130"/>
            <a:ext cx="10798579" cy="1320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4829"/>
              </a:lnSpc>
            </a:pPr>
            <a:r>
              <a:rPr lang="ar-EG" sz="3499" b="1">
                <a:solidFill>
                  <a:srgbClr val="303030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وصف صورة باستخدام نموذج ذكاء صنعي يعتمد مفهوم </a:t>
            </a:r>
            <a:r>
              <a:rPr lang="en-US" sz="3499" b="1">
                <a:solidFill>
                  <a:srgbClr val="303030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TRANSFORMER</a:t>
            </a:r>
            <a:r>
              <a:rPr lang="ar-EG" sz="3499" b="1">
                <a:solidFill>
                  <a:srgbClr val="303030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518379" y="2232693"/>
            <a:ext cx="2538576" cy="607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4140"/>
              </a:lnSpc>
            </a:pPr>
            <a:r>
              <a:rPr lang="ar-EG" sz="3000" b="1">
                <a:solidFill>
                  <a:srgbClr val="303030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إعداد الطلاب: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177873" y="3402702"/>
            <a:ext cx="4110127" cy="607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4140"/>
              </a:lnSpc>
            </a:pPr>
            <a:r>
              <a:rPr lang="ar-EG" sz="3000" b="1">
                <a:solidFill>
                  <a:srgbClr val="303030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ماجد حسين حجيرة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75762" y="3402702"/>
            <a:ext cx="4110127" cy="607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4140"/>
              </a:lnSpc>
            </a:pPr>
            <a:r>
              <a:rPr lang="ar-EG" sz="3000" b="1">
                <a:solidFill>
                  <a:srgbClr val="303030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يزن حسن بلال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32901" y="5782047"/>
            <a:ext cx="2333650" cy="710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4829"/>
              </a:lnSpc>
            </a:pPr>
            <a:r>
              <a:rPr lang="ar-EG" sz="34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اشراف: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566516" y="6587863"/>
            <a:ext cx="4666420" cy="710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4829"/>
              </a:lnSpc>
            </a:pPr>
            <a:r>
              <a:rPr lang="ar-EG" sz="34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الدكتور محمد ماشي</a:t>
            </a:r>
          </a:p>
        </p:txBody>
      </p:sp>
    </p:spTree>
    <p:extLst>
      <p:ext uri="{BB962C8B-B14F-4D97-AF65-F5344CB8AC3E}">
        <p14:creationId xmlns:p14="http://schemas.microsoft.com/office/powerpoint/2010/main" val="32585939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2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26970">
            <a:off x="13997995" y="1971813"/>
            <a:ext cx="3607111" cy="3765556"/>
            <a:chOff x="0" y="0"/>
            <a:chExt cx="1166855" cy="12181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66855" cy="1218110"/>
            </a:xfrm>
            <a:custGeom>
              <a:avLst/>
              <a:gdLst/>
              <a:ahLst/>
              <a:cxnLst/>
              <a:rect l="l" t="t" r="r" b="b"/>
              <a:pathLst>
                <a:path w="1166855" h="1218110">
                  <a:moveTo>
                    <a:pt x="0" y="0"/>
                  </a:moveTo>
                  <a:lnTo>
                    <a:pt x="1166855" y="0"/>
                  </a:lnTo>
                  <a:lnTo>
                    <a:pt x="1166855" y="1218110"/>
                  </a:lnTo>
                  <a:lnTo>
                    <a:pt x="0" y="1218110"/>
                  </a:lnTo>
                  <a:close/>
                </a:path>
              </a:pathLst>
            </a:custGeom>
            <a:solidFill>
              <a:srgbClr val="30303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1166855" cy="1313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26970">
            <a:off x="466768" y="1971813"/>
            <a:ext cx="3607111" cy="3765556"/>
            <a:chOff x="0" y="0"/>
            <a:chExt cx="1166855" cy="12181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66855" cy="1218110"/>
            </a:xfrm>
            <a:custGeom>
              <a:avLst/>
              <a:gdLst/>
              <a:ahLst/>
              <a:cxnLst/>
              <a:rect l="l" t="t" r="r" b="b"/>
              <a:pathLst>
                <a:path w="1166855" h="1218110">
                  <a:moveTo>
                    <a:pt x="0" y="0"/>
                  </a:moveTo>
                  <a:lnTo>
                    <a:pt x="1166855" y="0"/>
                  </a:lnTo>
                  <a:lnTo>
                    <a:pt x="1166855" y="1218110"/>
                  </a:lnTo>
                  <a:lnTo>
                    <a:pt x="0" y="1218110"/>
                  </a:lnTo>
                  <a:close/>
                </a:path>
              </a:pathLst>
            </a:custGeom>
            <a:solidFill>
              <a:srgbClr val="30303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1166855" cy="1313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286756" y="3092877"/>
            <a:ext cx="1714488" cy="1714488"/>
          </a:xfrm>
          <a:custGeom>
            <a:avLst/>
            <a:gdLst/>
            <a:ahLst/>
            <a:cxnLst/>
            <a:rect l="l" t="t" r="r" b="b"/>
            <a:pathLst>
              <a:path w="1714488" h="1714488">
                <a:moveTo>
                  <a:pt x="0" y="0"/>
                </a:moveTo>
                <a:lnTo>
                  <a:pt x="1714488" y="0"/>
                </a:lnTo>
                <a:lnTo>
                  <a:pt x="1714488" y="1714488"/>
                </a:lnTo>
                <a:lnTo>
                  <a:pt x="0" y="17144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0742674" y="6034812"/>
            <a:ext cx="6516626" cy="3891899"/>
            <a:chOff x="0" y="0"/>
            <a:chExt cx="1360959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60959" cy="812800"/>
            </a:xfrm>
            <a:custGeom>
              <a:avLst/>
              <a:gdLst/>
              <a:ahLst/>
              <a:cxnLst/>
              <a:rect l="l" t="t" r="r" b="b"/>
              <a:pathLst>
                <a:path w="1360959" h="812800">
                  <a:moveTo>
                    <a:pt x="0" y="0"/>
                  </a:moveTo>
                  <a:lnTo>
                    <a:pt x="1360959" y="0"/>
                  </a:lnTo>
                  <a:lnTo>
                    <a:pt x="1360959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t="-5813" b="-5813"/>
              </a:stretch>
            </a:blipFill>
            <a:ln w="571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028700" y="6034812"/>
            <a:ext cx="6425033" cy="3891899"/>
            <a:chOff x="0" y="0"/>
            <a:chExt cx="995406" cy="60295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95406" cy="602957"/>
            </a:xfrm>
            <a:custGeom>
              <a:avLst/>
              <a:gdLst/>
              <a:ahLst/>
              <a:cxnLst/>
              <a:rect l="l" t="t" r="r" b="b"/>
              <a:pathLst>
                <a:path w="995406" h="602957">
                  <a:moveTo>
                    <a:pt x="0" y="0"/>
                  </a:moveTo>
                  <a:lnTo>
                    <a:pt x="995406" y="0"/>
                  </a:lnTo>
                  <a:lnTo>
                    <a:pt x="995406" y="602957"/>
                  </a:lnTo>
                  <a:lnTo>
                    <a:pt x="0" y="602957"/>
                  </a:lnTo>
                  <a:close/>
                </a:path>
              </a:pathLst>
            </a:custGeom>
            <a:blipFill>
              <a:blip r:embed="rId5"/>
              <a:stretch>
                <a:fillRect t="-4929" b="-4929"/>
              </a:stretch>
            </a:blipFill>
            <a:ln w="5715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2472162" y="-45720"/>
            <a:ext cx="13334151" cy="1720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1729"/>
              </a:lnSpc>
            </a:pPr>
            <a:r>
              <a:rPr lang="ar-EG" sz="8499" b="1">
                <a:solidFill>
                  <a:srgbClr val="303030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الأهداف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8440" y="2921427"/>
            <a:ext cx="3663768" cy="2382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53"/>
              </a:lnSpc>
              <a:spcBef>
                <a:spcPct val="0"/>
              </a:spcBef>
            </a:pPr>
            <a:r>
              <a:rPr lang="en-US" sz="32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 </a:t>
            </a:r>
            <a:r>
              <a:rPr lang="ar-EG" sz="32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البحث عن صورة محددة وسط ملايين الصور غير الموصوفة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108626" y="2918471"/>
            <a:ext cx="3360904" cy="2382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53"/>
              </a:lnSpc>
              <a:spcBef>
                <a:spcPct val="0"/>
              </a:spcBef>
            </a:pPr>
            <a:r>
              <a:rPr lang="ar-EG" sz="32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صعوبة وصول المكفوفين لمحتوى الصور على الإنترنت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914206" y="2179124"/>
            <a:ext cx="3793739" cy="866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49"/>
              </a:lnSpc>
              <a:spcBef>
                <a:spcPct val="0"/>
              </a:spcBef>
            </a:pPr>
            <a:r>
              <a:rPr lang="en-US" sz="4499">
                <a:solidFill>
                  <a:srgbClr val="ECE2DA"/>
                </a:solidFill>
                <a:latin typeface="29LT Bukra"/>
                <a:ea typeface="29LT Bukra"/>
                <a:cs typeface="29LT Bukra"/>
                <a:sym typeface="29LT Bukra"/>
              </a:rPr>
              <a:t>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3454" y="2157217"/>
            <a:ext cx="3793739" cy="866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49"/>
              </a:lnSpc>
              <a:spcBef>
                <a:spcPct val="0"/>
              </a:spcBef>
            </a:pPr>
            <a:r>
              <a:rPr lang="en-US" sz="4499">
                <a:solidFill>
                  <a:srgbClr val="ECE2DA"/>
                </a:solidFill>
                <a:latin typeface="29LT Bukra"/>
                <a:ea typeface="29LT Bukra"/>
                <a:cs typeface="29LT Bukra"/>
                <a:sym typeface="29LT Bukra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74200" y="1609529"/>
            <a:ext cx="4739601" cy="1215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8280"/>
              </a:lnSpc>
            </a:pPr>
            <a:r>
              <a:rPr lang="ar-EG" sz="6000" b="1">
                <a:solidFill>
                  <a:srgbClr val="303030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حل مشكلتين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2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69959" y="169959"/>
            <a:ext cx="10287000" cy="9947081"/>
            <a:chOff x="0" y="0"/>
            <a:chExt cx="2709333" cy="26198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3" cy="2619807"/>
            </a:xfrm>
            <a:custGeom>
              <a:avLst/>
              <a:gdLst/>
              <a:ahLst/>
              <a:cxnLst/>
              <a:rect l="l" t="t" r="r" b="b"/>
              <a:pathLst>
                <a:path w="2709333" h="2619807">
                  <a:moveTo>
                    <a:pt x="0" y="0"/>
                  </a:moveTo>
                  <a:lnTo>
                    <a:pt x="2709333" y="0"/>
                  </a:lnTo>
                  <a:lnTo>
                    <a:pt x="2709333" y="2619807"/>
                  </a:lnTo>
                  <a:lnTo>
                    <a:pt x="0" y="2619807"/>
                  </a:lnTo>
                  <a:close/>
                </a:path>
              </a:pathLst>
            </a:custGeom>
            <a:solidFill>
              <a:srgbClr val="30303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2709333" cy="27436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326638" y="2920413"/>
            <a:ext cx="5539774" cy="3583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3110"/>
              </a:lnSpc>
            </a:pPr>
            <a:r>
              <a:rPr lang="ar-EG" sz="9500" b="1">
                <a:solidFill>
                  <a:srgbClr val="303030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الدراسات المرجعية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42314" y="2087394"/>
            <a:ext cx="9262453" cy="6493397"/>
            <a:chOff x="0" y="0"/>
            <a:chExt cx="12349938" cy="8657862"/>
          </a:xfrm>
        </p:grpSpPr>
        <p:sp>
          <p:nvSpPr>
            <p:cNvPr id="7" name="TextBox 7"/>
            <p:cNvSpPr txBox="1"/>
            <p:nvPr/>
          </p:nvSpPr>
          <p:spPr>
            <a:xfrm>
              <a:off x="10689159" y="-161925"/>
              <a:ext cx="1660778" cy="11548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907"/>
                </a:lnSpc>
              </a:pPr>
              <a:r>
                <a:rPr lang="en-US" sz="4922" b="1">
                  <a:solidFill>
                    <a:srgbClr val="ECE2DA"/>
                  </a:solidFill>
                  <a:latin typeface="29LT Bukra Bold"/>
                  <a:ea typeface="29LT Bukra Bold"/>
                  <a:cs typeface="29LT Bukra Bold"/>
                  <a:sym typeface="29LT Bukra Bold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79"/>
              <a:ext cx="10260938" cy="8981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 rtl="1">
                <a:lnSpc>
                  <a:spcPts val="4995"/>
                </a:lnSpc>
              </a:pPr>
              <a:r>
                <a:rPr lang="ar-EG" sz="3619">
                  <a:solidFill>
                    <a:srgbClr val="ECE2DA"/>
                  </a:solidFill>
                  <a:latin typeface="29LT Bukra"/>
                  <a:ea typeface="29LT Bukra"/>
                  <a:cs typeface="29LT Bukra"/>
                  <a:sym typeface="29LT Bukra"/>
                  <a:rtl/>
                </a:rPr>
                <a:t>الأساليب التقليدية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89159" y="1780004"/>
              <a:ext cx="1660778" cy="11548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907"/>
                </a:lnSpc>
              </a:pPr>
              <a:r>
                <a:rPr lang="en-US" sz="4922" b="1">
                  <a:solidFill>
                    <a:srgbClr val="ECE2DA"/>
                  </a:solidFill>
                  <a:latin typeface="29LT Bukra Bold"/>
                  <a:ea typeface="29LT Bukra Bold"/>
                  <a:cs typeface="29LT Bukra Bold"/>
                  <a:sym typeface="29LT Bukra Bold"/>
                </a:rPr>
                <a:t>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9024" y="1485133"/>
              <a:ext cx="10260938" cy="17255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 rtl="1">
                <a:lnSpc>
                  <a:spcPts val="4995"/>
                </a:lnSpc>
              </a:pPr>
              <a:r>
                <a:rPr lang="ar-EG" sz="3619">
                  <a:solidFill>
                    <a:srgbClr val="ECE2DA"/>
                  </a:solidFill>
                  <a:latin typeface="29LT Bukra"/>
                  <a:ea typeface="29LT Bukra"/>
                  <a:cs typeface="29LT Bukra"/>
                  <a:sym typeface="29LT Bukra"/>
                  <a:rtl/>
                </a:rPr>
                <a:t>الشبكات العصبية الالتفافية (</a:t>
              </a:r>
              <a:r>
                <a:rPr lang="en-US" sz="3619">
                  <a:solidFill>
                    <a:srgbClr val="ECE2DA"/>
                  </a:solidFill>
                  <a:latin typeface="29LT Bukra"/>
                  <a:ea typeface="29LT Bukra"/>
                  <a:cs typeface="29LT Bukra"/>
                  <a:sym typeface="29LT Bukra"/>
                </a:rPr>
                <a:t>CNN</a:t>
              </a:r>
              <a:r>
                <a:rPr lang="ar-EG" sz="3619">
                  <a:solidFill>
                    <a:srgbClr val="ECE2DA"/>
                  </a:solidFill>
                  <a:latin typeface="29LT Bukra"/>
                  <a:ea typeface="29LT Bukra"/>
                  <a:cs typeface="29LT Bukra"/>
                  <a:sym typeface="29LT Bukra"/>
                  <a:rtl/>
                </a:rPr>
                <a:t>) والشبكات المتكررة (</a:t>
              </a:r>
              <a:r>
                <a:rPr lang="en-US" sz="3619">
                  <a:solidFill>
                    <a:srgbClr val="ECE2DA"/>
                  </a:solidFill>
                  <a:latin typeface="29LT Bukra"/>
                  <a:ea typeface="29LT Bukra"/>
                  <a:cs typeface="29LT Bukra"/>
                  <a:sym typeface="29LT Bukra"/>
                </a:rPr>
                <a:t>RNN</a:t>
              </a:r>
              <a:r>
                <a:rPr lang="ar-EG" sz="3619">
                  <a:solidFill>
                    <a:srgbClr val="ECE2DA"/>
                  </a:solidFill>
                  <a:latin typeface="29LT Bukra"/>
                  <a:ea typeface="29LT Bukra"/>
                  <a:cs typeface="29LT Bukra"/>
                  <a:sym typeface="29LT Bukra"/>
                  <a:rtl/>
                </a:rPr>
                <a:t>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689159" y="4010403"/>
              <a:ext cx="1660778" cy="11548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907"/>
                </a:lnSpc>
              </a:pPr>
              <a:r>
                <a:rPr lang="en-US" sz="4922" b="1">
                  <a:solidFill>
                    <a:srgbClr val="ECE2DA"/>
                  </a:solidFill>
                  <a:latin typeface="29LT Bukra Bold"/>
                  <a:ea typeface="29LT Bukra Bold"/>
                  <a:cs typeface="29LT Bukra Bold"/>
                  <a:sym typeface="29LT Bukra Bold"/>
                </a:rPr>
                <a:t>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3931" y="3715532"/>
              <a:ext cx="10226205" cy="17255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 rtl="1">
                <a:lnSpc>
                  <a:spcPts val="4995"/>
                </a:lnSpc>
                <a:spcBef>
                  <a:spcPct val="0"/>
                </a:spcBef>
              </a:pPr>
              <a:r>
                <a:rPr lang="ar-EG" sz="3619">
                  <a:solidFill>
                    <a:srgbClr val="ECE2DA"/>
                  </a:solidFill>
                  <a:latin typeface="29LT Bukra"/>
                  <a:ea typeface="29LT Bukra"/>
                  <a:cs typeface="29LT Bukra"/>
                  <a:sym typeface="29LT Bukra"/>
                  <a:rtl/>
                </a:rPr>
                <a:t> النماذج الهجينة </a:t>
              </a:r>
              <a:r>
                <a:rPr lang="en-US" sz="3619">
                  <a:solidFill>
                    <a:srgbClr val="ECE2DA"/>
                  </a:solidFill>
                  <a:latin typeface="29LT Bukra"/>
                  <a:ea typeface="29LT Bukra"/>
                  <a:cs typeface="29LT Bukra"/>
                  <a:sym typeface="29LT Bukra"/>
                </a:rPr>
                <a:t>Encoder–Decoder</a:t>
              </a:r>
              <a:r>
                <a:rPr lang="ar-EG" sz="3619">
                  <a:solidFill>
                    <a:srgbClr val="ECE2DA"/>
                  </a:solidFill>
                  <a:latin typeface="29LT Bukra"/>
                  <a:ea typeface="29LT Bukra"/>
                  <a:cs typeface="29LT Bukra"/>
                  <a:sym typeface="29LT Bukra"/>
                  <a:rtl/>
                </a:rPr>
                <a:t> مع </a:t>
              </a:r>
              <a:r>
                <a:rPr lang="en-US" sz="3619">
                  <a:solidFill>
                    <a:srgbClr val="ECE2DA"/>
                  </a:solidFill>
                  <a:latin typeface="29LT Bukra"/>
                  <a:ea typeface="29LT Bukra"/>
                  <a:cs typeface="29LT Bukra"/>
                  <a:sym typeface="29LT Bukra"/>
                </a:rPr>
                <a:t>Attention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89159" y="5955860"/>
              <a:ext cx="1660778" cy="11548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907"/>
                </a:lnSpc>
              </a:pPr>
              <a:r>
                <a:rPr lang="en-US" sz="4922" b="1">
                  <a:solidFill>
                    <a:srgbClr val="ECE2DA"/>
                  </a:solidFill>
                  <a:latin typeface="29LT Bukra Bold"/>
                  <a:ea typeface="29LT Bukra Bold"/>
                  <a:cs typeface="29LT Bukra Bold"/>
                  <a:sym typeface="29LT Bukra Bold"/>
                </a:rPr>
                <a:t>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9024" y="6083842"/>
              <a:ext cx="10260938" cy="8981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 rtl="1">
                <a:lnSpc>
                  <a:spcPts val="4995"/>
                </a:lnSpc>
                <a:spcBef>
                  <a:spcPct val="0"/>
                </a:spcBef>
              </a:pPr>
              <a:r>
                <a:rPr lang="ar-EG" sz="3619">
                  <a:solidFill>
                    <a:srgbClr val="ECE2DA"/>
                  </a:solidFill>
                  <a:latin typeface="29LT Bukra"/>
                  <a:ea typeface="29LT Bukra"/>
                  <a:cs typeface="29LT Bukra"/>
                  <a:sym typeface="29LT Bukra"/>
                  <a:rtl/>
                </a:rPr>
                <a:t> المحولات (</a:t>
              </a:r>
              <a:r>
                <a:rPr lang="en-US" sz="3619">
                  <a:solidFill>
                    <a:srgbClr val="ECE2DA"/>
                  </a:solidFill>
                  <a:latin typeface="29LT Bukra"/>
                  <a:ea typeface="29LT Bukra"/>
                  <a:cs typeface="29LT Bukra"/>
                  <a:sym typeface="29LT Bukra"/>
                </a:rPr>
                <a:t>Transformers</a:t>
              </a:r>
              <a:r>
                <a:rPr lang="ar-EG" sz="3619">
                  <a:solidFill>
                    <a:srgbClr val="ECE2DA"/>
                  </a:solidFill>
                  <a:latin typeface="29LT Bukra"/>
                  <a:ea typeface="29LT Bukra"/>
                  <a:cs typeface="29LT Bukra"/>
                  <a:sym typeface="29LT Bukra"/>
                  <a:rtl/>
                </a:rPr>
                <a:t>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9024" y="7759752"/>
              <a:ext cx="10260938" cy="8981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 rtl="1">
                <a:lnSpc>
                  <a:spcPts val="4995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2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6756257" y="-1244743"/>
            <a:ext cx="4775487" cy="18288000"/>
            <a:chOff x="0" y="0"/>
            <a:chExt cx="1257741" cy="48165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7741" cy="4816592"/>
            </a:xfrm>
            <a:custGeom>
              <a:avLst/>
              <a:gdLst/>
              <a:ahLst/>
              <a:cxnLst/>
              <a:rect l="l" t="t" r="r" b="b"/>
              <a:pathLst>
                <a:path w="1257741" h="4816592">
                  <a:moveTo>
                    <a:pt x="0" y="0"/>
                  </a:moveTo>
                  <a:lnTo>
                    <a:pt x="1257741" y="0"/>
                  </a:lnTo>
                  <a:lnTo>
                    <a:pt x="1257741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30303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1257741" cy="4940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39660" y="4008524"/>
            <a:ext cx="2487797" cy="3005979"/>
          </a:xfrm>
          <a:custGeom>
            <a:avLst/>
            <a:gdLst/>
            <a:ahLst/>
            <a:cxnLst/>
            <a:rect l="l" t="t" r="r" b="b"/>
            <a:pathLst>
              <a:path w="2487797" h="3005979">
                <a:moveTo>
                  <a:pt x="0" y="0"/>
                </a:moveTo>
                <a:lnTo>
                  <a:pt x="2487798" y="0"/>
                </a:lnTo>
                <a:lnTo>
                  <a:pt x="2487798" y="3005979"/>
                </a:lnTo>
                <a:lnTo>
                  <a:pt x="0" y="30059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335030" y="-177165"/>
            <a:ext cx="13617940" cy="1925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 rtl="1">
              <a:lnSpc>
                <a:spcPts val="13110"/>
              </a:lnSpc>
              <a:spcBef>
                <a:spcPct val="0"/>
              </a:spcBef>
            </a:pPr>
            <a:r>
              <a:rPr lang="ar-EG" sz="9500" b="1">
                <a:solidFill>
                  <a:srgbClr val="303030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المنهجية </a:t>
            </a:r>
          </a:p>
        </p:txBody>
      </p:sp>
      <p:sp>
        <p:nvSpPr>
          <p:cNvPr id="7" name="Freeform 7"/>
          <p:cNvSpPr/>
          <p:nvPr/>
        </p:nvSpPr>
        <p:spPr>
          <a:xfrm>
            <a:off x="3227458" y="4008524"/>
            <a:ext cx="2487797" cy="3005979"/>
          </a:xfrm>
          <a:custGeom>
            <a:avLst/>
            <a:gdLst/>
            <a:ahLst/>
            <a:cxnLst/>
            <a:rect l="l" t="t" r="r" b="b"/>
            <a:pathLst>
              <a:path w="2487797" h="3005979">
                <a:moveTo>
                  <a:pt x="0" y="0"/>
                </a:moveTo>
                <a:lnTo>
                  <a:pt x="2487797" y="0"/>
                </a:lnTo>
                <a:lnTo>
                  <a:pt x="2487797" y="3005979"/>
                </a:lnTo>
                <a:lnTo>
                  <a:pt x="0" y="30059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7646116" y="1983450"/>
            <a:ext cx="10376617" cy="2375538"/>
            <a:chOff x="0" y="0"/>
            <a:chExt cx="13835489" cy="3167385"/>
          </a:xfrm>
        </p:grpSpPr>
        <p:sp>
          <p:nvSpPr>
            <p:cNvPr id="9" name="TextBox 9"/>
            <p:cNvSpPr txBox="1"/>
            <p:nvPr/>
          </p:nvSpPr>
          <p:spPr>
            <a:xfrm>
              <a:off x="8316122" y="-228600"/>
              <a:ext cx="5519367" cy="11328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971534" lvl="1" indent="-485767" algn="ctr" rtl="1">
                <a:lnSpc>
                  <a:spcPts val="620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ar-EG" sz="4499" b="1">
                  <a:solidFill>
                    <a:srgbClr val="303030"/>
                  </a:solidFill>
                  <a:latin typeface="29LT Bukra Bold"/>
                  <a:ea typeface="29LT Bukra Bold"/>
                  <a:cs typeface="29LT Bukra Bold"/>
                  <a:sym typeface="29LT Bukra Bold"/>
                  <a:rtl/>
                </a:rPr>
                <a:t>تحليلية : 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93142"/>
              <a:ext cx="11903792" cy="21742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971534" lvl="1" indent="-485767" algn="r" rtl="1">
                <a:lnSpc>
                  <a:spcPts val="620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ar-EG" sz="4499" b="1">
                  <a:solidFill>
                    <a:srgbClr val="303030"/>
                  </a:solidFill>
                  <a:latin typeface="29LT Bukra Bold"/>
                  <a:ea typeface="29LT Bukra Bold"/>
                  <a:cs typeface="29LT Bukra Bold"/>
                  <a:sym typeface="29LT Bukra Bold"/>
                  <a:rtl/>
                </a:rPr>
                <a:t> عملية مراجعة النماذج الموجودة ومقارنتها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14786" y="6212059"/>
            <a:ext cx="11407947" cy="2375538"/>
            <a:chOff x="0" y="0"/>
            <a:chExt cx="15210596" cy="3167385"/>
          </a:xfrm>
        </p:grpSpPr>
        <p:sp>
          <p:nvSpPr>
            <p:cNvPr id="12" name="TextBox 12"/>
            <p:cNvSpPr txBox="1"/>
            <p:nvPr/>
          </p:nvSpPr>
          <p:spPr>
            <a:xfrm>
              <a:off x="9691229" y="-228600"/>
              <a:ext cx="5519367" cy="11328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971534" lvl="1" indent="-485767" algn="ctr" rtl="1">
                <a:lnSpc>
                  <a:spcPts val="620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ar-EG" sz="4499" b="1">
                  <a:solidFill>
                    <a:srgbClr val="ECE2DA"/>
                  </a:solidFill>
                  <a:latin typeface="29LT Bukra Bold"/>
                  <a:ea typeface="29LT Bukra Bold"/>
                  <a:cs typeface="29LT Bukra Bold"/>
                  <a:sym typeface="29LT Bukra Bold"/>
                  <a:rtl/>
                </a:rPr>
                <a:t>تجريبية : 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993142"/>
              <a:ext cx="13278898" cy="21742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971534" lvl="1" indent="-485767" algn="r" rtl="1">
                <a:lnSpc>
                  <a:spcPts val="620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ar-EG" sz="4499" b="1">
                  <a:solidFill>
                    <a:srgbClr val="ECE2DA"/>
                  </a:solidFill>
                  <a:latin typeface="29LT Bukra Bold"/>
                  <a:ea typeface="29LT Bukra Bold"/>
                  <a:cs typeface="29LT Bukra Bold"/>
                  <a:sym typeface="29LT Bukra Bold"/>
                  <a:rtl/>
                </a:rPr>
                <a:t>عملية بناء وتدريب النموذج وتقييم النتائج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2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03983" y="0"/>
            <a:ext cx="3162694" cy="3162694"/>
          </a:xfrm>
          <a:custGeom>
            <a:avLst/>
            <a:gdLst/>
            <a:ahLst/>
            <a:cxnLst/>
            <a:rect l="l" t="t" r="r" b="b"/>
            <a:pathLst>
              <a:path w="3162694" h="3162694">
                <a:moveTo>
                  <a:pt x="0" y="0"/>
                </a:moveTo>
                <a:lnTo>
                  <a:pt x="3162694" y="0"/>
                </a:lnTo>
                <a:lnTo>
                  <a:pt x="3162694" y="3162694"/>
                </a:lnTo>
                <a:lnTo>
                  <a:pt x="0" y="3162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82354" y="430186"/>
            <a:ext cx="5036883" cy="2518441"/>
          </a:xfrm>
          <a:custGeom>
            <a:avLst/>
            <a:gdLst/>
            <a:ahLst/>
            <a:cxnLst/>
            <a:rect l="l" t="t" r="r" b="b"/>
            <a:pathLst>
              <a:path w="5036883" h="2518441">
                <a:moveTo>
                  <a:pt x="0" y="0"/>
                </a:moveTo>
                <a:lnTo>
                  <a:pt x="5036883" y="0"/>
                </a:lnTo>
                <a:lnTo>
                  <a:pt x="5036883" y="2518442"/>
                </a:lnTo>
                <a:lnTo>
                  <a:pt x="0" y="25184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27428" y="3814919"/>
            <a:ext cx="6715411" cy="1785198"/>
          </a:xfrm>
          <a:custGeom>
            <a:avLst/>
            <a:gdLst/>
            <a:ahLst/>
            <a:cxnLst/>
            <a:rect l="l" t="t" r="r" b="b"/>
            <a:pathLst>
              <a:path w="6715411" h="1785198">
                <a:moveTo>
                  <a:pt x="0" y="0"/>
                </a:moveTo>
                <a:lnTo>
                  <a:pt x="6715411" y="0"/>
                </a:lnTo>
                <a:lnTo>
                  <a:pt x="6715411" y="1785197"/>
                </a:lnTo>
                <a:lnTo>
                  <a:pt x="0" y="17851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27428" y="6815448"/>
            <a:ext cx="2617770" cy="2617770"/>
          </a:xfrm>
          <a:custGeom>
            <a:avLst/>
            <a:gdLst/>
            <a:ahLst/>
            <a:cxnLst/>
            <a:rect l="l" t="t" r="r" b="b"/>
            <a:pathLst>
              <a:path w="2617770" h="2617770">
                <a:moveTo>
                  <a:pt x="0" y="0"/>
                </a:moveTo>
                <a:lnTo>
                  <a:pt x="2617769" y="0"/>
                </a:lnTo>
                <a:lnTo>
                  <a:pt x="2617769" y="2617769"/>
                </a:lnTo>
                <a:lnTo>
                  <a:pt x="0" y="2617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303983" y="6746010"/>
            <a:ext cx="2951659" cy="2951659"/>
          </a:xfrm>
          <a:custGeom>
            <a:avLst/>
            <a:gdLst/>
            <a:ahLst/>
            <a:cxnLst/>
            <a:rect l="l" t="t" r="r" b="b"/>
            <a:pathLst>
              <a:path w="2951659" h="2951659">
                <a:moveTo>
                  <a:pt x="0" y="0"/>
                </a:moveTo>
                <a:lnTo>
                  <a:pt x="2951659" y="0"/>
                </a:lnTo>
                <a:lnTo>
                  <a:pt x="2951659" y="2951659"/>
                </a:lnTo>
                <a:lnTo>
                  <a:pt x="0" y="29516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9144000" y="0"/>
            <a:ext cx="9144000" cy="10287000"/>
            <a:chOff x="0" y="0"/>
            <a:chExt cx="2408296" cy="2709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303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23825"/>
              <a:ext cx="2408296" cy="2833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144000" y="286964"/>
            <a:ext cx="9144000" cy="8660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39" lvl="1" indent="-377820" algn="just" rtl="1">
              <a:lnSpc>
                <a:spcPts val="4829"/>
              </a:lnSpc>
              <a:buFont typeface="Arial"/>
              <a:buChar char="•"/>
            </a:pPr>
            <a:r>
              <a:rPr lang="ar-EG" sz="34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البيئة :</a:t>
            </a:r>
          </a:p>
          <a:p>
            <a:pPr algn="just" rtl="1">
              <a:lnSpc>
                <a:spcPts val="4139"/>
              </a:lnSpc>
            </a:pPr>
            <a:endParaRPr lang="ar-EG" sz="3499" b="1">
              <a:solidFill>
                <a:srgbClr val="ECE2DA"/>
              </a:solidFill>
              <a:latin typeface="29LT Bukra Bold"/>
              <a:ea typeface="29LT Bukra Bold"/>
              <a:cs typeface="29LT Bukra Bold"/>
              <a:sym typeface="29LT Bukra Bold"/>
              <a:rtl/>
            </a:endParaRPr>
          </a:p>
          <a:p>
            <a:pPr marL="1295384" lvl="2" indent="-431795" algn="just" rtl="1">
              <a:lnSpc>
                <a:spcPts val="4139"/>
              </a:lnSpc>
              <a:buFont typeface="Arial"/>
              <a:buChar char="⚬"/>
            </a:pPr>
            <a:r>
              <a:rPr lang="ar-EG" sz="29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العتاد:</a:t>
            </a:r>
          </a:p>
          <a:p>
            <a:pPr marL="1943076" lvl="3" indent="-485769" algn="just" rtl="1">
              <a:lnSpc>
                <a:spcPts val="4139"/>
              </a:lnSpc>
              <a:buFont typeface="Arial"/>
              <a:buChar char="￭"/>
            </a:pPr>
            <a:r>
              <a:rPr lang="ar-EG" sz="29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 </a:t>
            </a:r>
            <a:r>
              <a:rPr lang="en-US" sz="29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GPU  NVIDIA TESLA T4</a:t>
            </a:r>
            <a:r>
              <a:rPr lang="ar-EG" sz="29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 </a:t>
            </a:r>
          </a:p>
          <a:p>
            <a:pPr marL="1295384" lvl="2" indent="-431795" algn="just" rtl="1">
              <a:lnSpc>
                <a:spcPts val="4139"/>
              </a:lnSpc>
              <a:buFont typeface="Arial"/>
              <a:buChar char="⚬"/>
            </a:pPr>
            <a:r>
              <a:rPr lang="ar-EG" sz="29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بيئة التطوير:</a:t>
            </a:r>
          </a:p>
          <a:p>
            <a:pPr marL="1943076" lvl="3" indent="-485769" algn="just" rtl="1">
              <a:lnSpc>
                <a:spcPts val="4139"/>
              </a:lnSpc>
              <a:buFont typeface="Arial"/>
              <a:buChar char="￭"/>
            </a:pPr>
            <a:r>
              <a:rPr lang="ar-EG" sz="29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 </a:t>
            </a:r>
            <a:r>
              <a:rPr lang="en-US" sz="29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GOOGLE COLAB</a:t>
            </a:r>
            <a:r>
              <a:rPr lang="ar-EG" sz="29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 </a:t>
            </a:r>
          </a:p>
          <a:p>
            <a:pPr algn="just" rtl="1">
              <a:lnSpc>
                <a:spcPts val="4139"/>
              </a:lnSpc>
            </a:pPr>
            <a:endParaRPr lang="ar-EG" sz="2999" b="1">
              <a:solidFill>
                <a:srgbClr val="ECE2DA"/>
              </a:solidFill>
              <a:latin typeface="29LT Bukra Bold"/>
              <a:ea typeface="29LT Bukra Bold"/>
              <a:cs typeface="29LT Bukra Bold"/>
              <a:sym typeface="29LT Bukra Bold"/>
              <a:rtl/>
            </a:endParaRPr>
          </a:p>
          <a:p>
            <a:pPr algn="just" rtl="1">
              <a:lnSpc>
                <a:spcPts val="4139"/>
              </a:lnSpc>
            </a:pPr>
            <a:endParaRPr lang="ar-EG" sz="2999" b="1">
              <a:solidFill>
                <a:srgbClr val="ECE2DA"/>
              </a:solidFill>
              <a:latin typeface="29LT Bukra Bold"/>
              <a:ea typeface="29LT Bukra Bold"/>
              <a:cs typeface="29LT Bukra Bold"/>
              <a:sym typeface="29LT Bukra Bold"/>
              <a:rtl/>
            </a:endParaRPr>
          </a:p>
          <a:p>
            <a:pPr marL="755639" lvl="1" indent="-377820" algn="just" rtl="1">
              <a:lnSpc>
                <a:spcPts val="4829"/>
              </a:lnSpc>
              <a:buFont typeface="Arial"/>
              <a:buChar char="•"/>
            </a:pPr>
            <a:r>
              <a:rPr lang="ar-EG" sz="34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المكتبات الأساسية : </a:t>
            </a:r>
          </a:p>
          <a:p>
            <a:pPr algn="just" rtl="1">
              <a:lnSpc>
                <a:spcPts val="4139"/>
              </a:lnSpc>
            </a:pPr>
            <a:endParaRPr lang="ar-EG" sz="3499" b="1">
              <a:solidFill>
                <a:srgbClr val="ECE2DA"/>
              </a:solidFill>
              <a:latin typeface="29LT Bukra Bold"/>
              <a:ea typeface="29LT Bukra Bold"/>
              <a:cs typeface="29LT Bukra Bold"/>
              <a:sym typeface="29LT Bukra Bold"/>
              <a:rtl/>
            </a:endParaRPr>
          </a:p>
          <a:p>
            <a:pPr marL="1295384" lvl="2" indent="-431795" algn="just" rtl="1">
              <a:lnSpc>
                <a:spcPts val="4139"/>
              </a:lnSpc>
              <a:buFont typeface="Arial"/>
              <a:buChar char="⚬"/>
            </a:pPr>
            <a:r>
              <a:rPr lang="en-US" sz="29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PYTORCH</a:t>
            </a:r>
          </a:p>
          <a:p>
            <a:pPr marL="1295384" lvl="2" indent="-431795" algn="just" rtl="1">
              <a:lnSpc>
                <a:spcPts val="4139"/>
              </a:lnSpc>
              <a:buFont typeface="Arial"/>
              <a:buChar char="⚬"/>
            </a:pPr>
            <a:r>
              <a:rPr lang="en-US" sz="29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HUGGINGFACE</a:t>
            </a:r>
          </a:p>
          <a:p>
            <a:pPr marL="1295384" lvl="2" indent="-431795" algn="just" rtl="1">
              <a:lnSpc>
                <a:spcPts val="4139"/>
              </a:lnSpc>
              <a:buFont typeface="Arial"/>
              <a:buChar char="⚬"/>
            </a:pPr>
            <a:r>
              <a:rPr lang="en-US" sz="29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TORCHVISION</a:t>
            </a:r>
          </a:p>
          <a:p>
            <a:pPr marL="1295384" lvl="2" indent="-431795" algn="just" rtl="1">
              <a:lnSpc>
                <a:spcPts val="4139"/>
              </a:lnSpc>
              <a:buFont typeface="Arial"/>
              <a:buChar char="⚬"/>
            </a:pPr>
            <a:r>
              <a:rPr lang="en-US" sz="29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PYCOCOTOOLS</a:t>
            </a:r>
          </a:p>
          <a:p>
            <a:pPr marL="1295384" lvl="2" indent="-431795" algn="just" rtl="1">
              <a:lnSpc>
                <a:spcPts val="4139"/>
              </a:lnSpc>
              <a:buFont typeface="Arial"/>
              <a:buChar char="⚬"/>
            </a:pPr>
            <a:r>
              <a:rPr lang="en-US" sz="29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NLTK / EVALUATE / ROUGE_SCORE</a:t>
            </a:r>
          </a:p>
          <a:p>
            <a:pPr marL="1295384" lvl="2" indent="-431795" algn="just" rtl="1">
              <a:lnSpc>
                <a:spcPts val="4139"/>
              </a:lnSpc>
              <a:spcBef>
                <a:spcPct val="0"/>
              </a:spcBef>
              <a:buFont typeface="Arial"/>
              <a:buChar char="⚬"/>
            </a:pPr>
            <a:r>
              <a:rPr lang="en-US" sz="29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MATPLOTLIB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2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82422" y="0"/>
            <a:ext cx="13923157" cy="10287000"/>
          </a:xfrm>
          <a:custGeom>
            <a:avLst/>
            <a:gdLst/>
            <a:ahLst/>
            <a:cxnLst/>
            <a:rect l="l" t="t" r="r" b="b"/>
            <a:pathLst>
              <a:path w="13923157" h="10287000">
                <a:moveTo>
                  <a:pt x="0" y="0"/>
                </a:moveTo>
                <a:lnTo>
                  <a:pt x="13923156" y="0"/>
                </a:lnTo>
                <a:lnTo>
                  <a:pt x="1392315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7872" b="-17872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3746348" cy="10287000"/>
          </a:xfrm>
          <a:custGeom>
            <a:avLst/>
            <a:gdLst/>
            <a:ahLst/>
            <a:cxnLst/>
            <a:rect l="l" t="t" r="r" b="b"/>
            <a:pathLst>
              <a:path w="13746348" h="10287000">
                <a:moveTo>
                  <a:pt x="0" y="0"/>
                </a:moveTo>
                <a:lnTo>
                  <a:pt x="13746348" y="0"/>
                </a:lnTo>
                <a:lnTo>
                  <a:pt x="1374634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007" b="-957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746348" y="0"/>
            <a:ext cx="4541652" cy="10287000"/>
            <a:chOff x="0" y="0"/>
            <a:chExt cx="1196155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96155" cy="2709333"/>
            </a:xfrm>
            <a:custGeom>
              <a:avLst/>
              <a:gdLst/>
              <a:ahLst/>
              <a:cxnLst/>
              <a:rect l="l" t="t" r="r" b="b"/>
              <a:pathLst>
                <a:path w="1196155" h="2709333">
                  <a:moveTo>
                    <a:pt x="0" y="0"/>
                  </a:moveTo>
                  <a:lnTo>
                    <a:pt x="1196155" y="0"/>
                  </a:lnTo>
                  <a:lnTo>
                    <a:pt x="11961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CE2DA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23825"/>
              <a:ext cx="1196155" cy="2833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846959" y="2583180"/>
            <a:ext cx="4340429" cy="4692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1729"/>
              </a:lnSpc>
            </a:pPr>
            <a:r>
              <a:rPr lang="ar-EG" sz="8499" b="1">
                <a:solidFill>
                  <a:srgbClr val="303030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مراحل عمل النموذج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4170" y="2716799"/>
            <a:ext cx="14996962" cy="5623861"/>
          </a:xfrm>
          <a:custGeom>
            <a:avLst/>
            <a:gdLst/>
            <a:ahLst/>
            <a:cxnLst/>
            <a:rect l="l" t="t" r="r" b="b"/>
            <a:pathLst>
              <a:path w="14996962" h="5623861">
                <a:moveTo>
                  <a:pt x="0" y="0"/>
                </a:moveTo>
                <a:lnTo>
                  <a:pt x="14996962" y="0"/>
                </a:lnTo>
                <a:lnTo>
                  <a:pt x="14996962" y="5623861"/>
                </a:lnTo>
                <a:lnTo>
                  <a:pt x="0" y="56238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689460" y="600075"/>
            <a:ext cx="4569840" cy="1720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1729"/>
              </a:lnSpc>
            </a:pPr>
            <a:r>
              <a:rPr lang="ar-EG" sz="84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النتائج: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733348" y="8746807"/>
            <a:ext cx="12438606" cy="813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r" rtl="1">
              <a:lnSpc>
                <a:spcPts val="5519"/>
              </a:lnSpc>
              <a:buFont typeface="Arial"/>
              <a:buChar char="•"/>
            </a:pPr>
            <a:r>
              <a:rPr lang="ar-EG" sz="39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توضيح لمنحنيات </a:t>
            </a:r>
            <a:r>
              <a:rPr lang="en-US" sz="39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BLEU</a:t>
            </a:r>
            <a:r>
              <a:rPr lang="ar-EG" sz="39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 و </a:t>
            </a:r>
            <a:r>
              <a:rPr lang="en-US" sz="39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ROUGE</a:t>
            </a:r>
            <a:r>
              <a:rPr lang="ar-EG" sz="39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 عبر الحقبات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59061" y="1376205"/>
            <a:ext cx="15969877" cy="6367989"/>
          </a:xfrm>
          <a:custGeom>
            <a:avLst/>
            <a:gdLst/>
            <a:ahLst/>
            <a:cxnLst/>
            <a:rect l="l" t="t" r="r" b="b"/>
            <a:pathLst>
              <a:path w="15969877" h="6367989">
                <a:moveTo>
                  <a:pt x="0" y="0"/>
                </a:moveTo>
                <a:lnTo>
                  <a:pt x="15969878" y="0"/>
                </a:lnTo>
                <a:lnTo>
                  <a:pt x="15969878" y="6367988"/>
                </a:lnTo>
                <a:lnTo>
                  <a:pt x="0" y="63679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907471" y="8196223"/>
            <a:ext cx="13241542" cy="813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r" rtl="1">
              <a:lnSpc>
                <a:spcPts val="5519"/>
              </a:lnSpc>
              <a:buFont typeface="Arial"/>
              <a:buChar char="•"/>
            </a:pPr>
            <a:r>
              <a:rPr lang="ar-EG" sz="39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توضيح لمنحنيات </a:t>
            </a:r>
            <a:r>
              <a:rPr lang="en-US" sz="39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LOSS</a:t>
            </a:r>
            <a:r>
              <a:rPr lang="ar-EG" sz="39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 و </a:t>
            </a:r>
            <a:r>
              <a:rPr lang="en-US" sz="39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ACCURACY</a:t>
            </a:r>
            <a:r>
              <a:rPr lang="ar-EG" sz="39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 عبر الحقبات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652802"/>
            <a:ext cx="18258054" cy="4634198"/>
            <a:chOff x="0" y="0"/>
            <a:chExt cx="4808706" cy="12205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08706" cy="1220530"/>
            </a:xfrm>
            <a:custGeom>
              <a:avLst/>
              <a:gdLst/>
              <a:ahLst/>
              <a:cxnLst/>
              <a:rect l="l" t="t" r="r" b="b"/>
              <a:pathLst>
                <a:path w="4808706" h="1220530">
                  <a:moveTo>
                    <a:pt x="0" y="0"/>
                  </a:moveTo>
                  <a:lnTo>
                    <a:pt x="4808706" y="0"/>
                  </a:lnTo>
                  <a:lnTo>
                    <a:pt x="4808706" y="1220530"/>
                  </a:lnTo>
                  <a:lnTo>
                    <a:pt x="0" y="1220530"/>
                  </a:lnTo>
                  <a:close/>
                </a:path>
              </a:pathLst>
            </a:custGeom>
            <a:solidFill>
              <a:srgbClr val="ECE2D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4808706" cy="13443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60204" y="6321113"/>
            <a:ext cx="5228500" cy="3297575"/>
          </a:xfrm>
          <a:custGeom>
            <a:avLst/>
            <a:gdLst/>
            <a:ahLst/>
            <a:cxnLst/>
            <a:rect l="l" t="t" r="r" b="b"/>
            <a:pathLst>
              <a:path w="5228500" h="3297575">
                <a:moveTo>
                  <a:pt x="0" y="0"/>
                </a:moveTo>
                <a:lnTo>
                  <a:pt x="5228500" y="0"/>
                </a:lnTo>
                <a:lnTo>
                  <a:pt x="5228500" y="3297575"/>
                </a:lnTo>
                <a:lnTo>
                  <a:pt x="0" y="32975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375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914532" y="188540"/>
            <a:ext cx="5117389" cy="5135630"/>
          </a:xfrm>
          <a:custGeom>
            <a:avLst/>
            <a:gdLst/>
            <a:ahLst/>
            <a:cxnLst/>
            <a:rect l="l" t="t" r="r" b="b"/>
            <a:pathLst>
              <a:path w="5117389" h="5135630">
                <a:moveTo>
                  <a:pt x="0" y="0"/>
                </a:moveTo>
                <a:lnTo>
                  <a:pt x="5117388" y="0"/>
                </a:lnTo>
                <a:lnTo>
                  <a:pt x="5117388" y="5135630"/>
                </a:lnTo>
                <a:lnTo>
                  <a:pt x="0" y="51356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39" r="-25011" b="-10162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71957" y="253556"/>
            <a:ext cx="12642574" cy="1493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7" lvl="1" indent="-280674" algn="r" rtl="1">
              <a:lnSpc>
                <a:spcPts val="3588"/>
              </a:lnSpc>
              <a:buFont typeface="Arial"/>
              <a:buChar char="•"/>
            </a:pPr>
            <a:r>
              <a:rPr lang="ar-EG" sz="2600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المرجع :</a:t>
            </a:r>
          </a:p>
          <a:p>
            <a:pPr algn="r" rtl="1">
              <a:lnSpc>
                <a:spcPts val="4140"/>
              </a:lnSpc>
            </a:pPr>
            <a:endParaRPr lang="ar-EG" sz="2600" b="1">
              <a:solidFill>
                <a:srgbClr val="ECE2DA"/>
              </a:solidFill>
              <a:latin typeface="29LT Bukra Bold"/>
              <a:ea typeface="29LT Bukra Bold"/>
              <a:cs typeface="29LT Bukra Bold"/>
              <a:sym typeface="29LT Bukra Bold"/>
              <a:rtl/>
            </a:endParaRPr>
          </a:p>
          <a:p>
            <a:pPr marL="1122694" lvl="2" indent="-374231" algn="r" rtl="1">
              <a:lnSpc>
                <a:spcPts val="3588"/>
              </a:lnSpc>
              <a:buFont typeface="Arial"/>
              <a:buChar char="⚬"/>
            </a:pPr>
            <a:r>
              <a:rPr lang="ar-EG" sz="2600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 </a:t>
            </a:r>
            <a:r>
              <a:rPr lang="en-US" sz="2600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A SKATEBOARDER JUMPS WHILE TRYING TO PERFORM A TRICK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44793" y="2867454"/>
            <a:ext cx="9469738" cy="1655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5" lvl="1" indent="-323852" algn="r" rtl="1">
              <a:lnSpc>
                <a:spcPts val="4140"/>
              </a:lnSpc>
              <a:buFont typeface="Arial"/>
              <a:buChar char="•"/>
            </a:pPr>
            <a:r>
              <a:rPr lang="ar-EG" sz="3000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المولد : </a:t>
            </a:r>
          </a:p>
          <a:p>
            <a:pPr algn="r" rtl="1">
              <a:lnSpc>
                <a:spcPts val="4140"/>
              </a:lnSpc>
            </a:pPr>
            <a:endParaRPr lang="ar-EG" sz="3000" b="1">
              <a:solidFill>
                <a:srgbClr val="ECE2DA"/>
              </a:solidFill>
              <a:latin typeface="29LT Bukra Bold"/>
              <a:ea typeface="29LT Bukra Bold"/>
              <a:cs typeface="29LT Bukra Bold"/>
              <a:sym typeface="29LT Bukra Bold"/>
              <a:rtl/>
            </a:endParaRPr>
          </a:p>
          <a:p>
            <a:pPr marL="1295410" lvl="2" indent="-431803" algn="r" rtl="1">
              <a:lnSpc>
                <a:spcPts val="4140"/>
              </a:lnSpc>
              <a:buFont typeface="Arial"/>
              <a:buChar char="⚬"/>
            </a:pPr>
            <a:r>
              <a:rPr lang="en-US" sz="3000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MAN   ON  SKATE  DOING  A TRICK IN AIR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104306" y="7195747"/>
            <a:ext cx="6073177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 algn="ctr" rtl="1">
              <a:lnSpc>
                <a:spcPts val="6900"/>
              </a:lnSpc>
              <a:buFont typeface="Arial"/>
              <a:buChar char="•"/>
            </a:pPr>
            <a:r>
              <a:rPr lang="ar-EG" sz="5000" b="1">
                <a:solidFill>
                  <a:srgbClr val="303030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نتائج الاختبار 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2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0"/>
            <a:ext cx="9144000" cy="10287000"/>
            <a:chOff x="0" y="0"/>
            <a:chExt cx="240829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303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2408296" cy="2833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2130781" y="412652"/>
            <a:ext cx="5556303" cy="1720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1729"/>
              </a:lnSpc>
            </a:pPr>
            <a:r>
              <a:rPr lang="ar-EG" sz="84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التحديات 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992072" y="412652"/>
            <a:ext cx="5556303" cy="1720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1729"/>
              </a:lnSpc>
            </a:pPr>
            <a:r>
              <a:rPr lang="ar-EG" sz="8499" b="1">
                <a:solidFill>
                  <a:srgbClr val="303030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التوصيات: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24769" y="2204321"/>
            <a:ext cx="6634531" cy="6393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r" rtl="1">
              <a:lnSpc>
                <a:spcPts val="3863"/>
              </a:lnSpc>
              <a:buFont typeface="Arial"/>
              <a:buChar char="•"/>
            </a:pPr>
            <a:r>
              <a:rPr lang="ar-EG" sz="27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تحديات في البنية التحتية : </a:t>
            </a:r>
          </a:p>
          <a:p>
            <a:pPr marL="1209039" lvl="2" indent="-403013" algn="r" rtl="1">
              <a:lnSpc>
                <a:spcPts val="3863"/>
              </a:lnSpc>
              <a:buFont typeface="Arial"/>
              <a:buChar char="⚬"/>
            </a:pPr>
            <a:r>
              <a:rPr lang="ar-EG" sz="27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الانقطاع في الكهرباء </a:t>
            </a:r>
          </a:p>
          <a:p>
            <a:pPr marL="1209039" lvl="2" indent="-403013" algn="r" rtl="1">
              <a:lnSpc>
                <a:spcPts val="3863"/>
              </a:lnSpc>
              <a:buFont typeface="Arial"/>
              <a:buChar char="⚬"/>
            </a:pPr>
            <a:r>
              <a:rPr lang="ar-EG" sz="27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ضعف خدمات الانترنيت</a:t>
            </a:r>
          </a:p>
          <a:p>
            <a:pPr algn="r" rtl="1">
              <a:lnSpc>
                <a:spcPts val="3863"/>
              </a:lnSpc>
            </a:pPr>
            <a:endParaRPr lang="ar-EG" sz="2799" b="1">
              <a:solidFill>
                <a:srgbClr val="ECE2DA"/>
              </a:solidFill>
              <a:latin typeface="29LT Bukra Bold"/>
              <a:ea typeface="29LT Bukra Bold"/>
              <a:cs typeface="29LT Bukra Bold"/>
              <a:sym typeface="29LT Bukra Bold"/>
              <a:rtl/>
            </a:endParaRPr>
          </a:p>
          <a:p>
            <a:pPr algn="l">
              <a:lnSpc>
                <a:spcPts val="3863"/>
              </a:lnSpc>
            </a:pPr>
            <a:endParaRPr lang="ar-EG" sz="2799" b="1">
              <a:solidFill>
                <a:srgbClr val="ECE2DA"/>
              </a:solidFill>
              <a:latin typeface="29LT Bukra Bold"/>
              <a:ea typeface="29LT Bukra Bold"/>
              <a:cs typeface="29LT Bukra Bold"/>
              <a:sym typeface="29LT Bukra Bold"/>
              <a:rtl/>
            </a:endParaRPr>
          </a:p>
          <a:p>
            <a:pPr algn="l">
              <a:lnSpc>
                <a:spcPts val="3863"/>
              </a:lnSpc>
            </a:pPr>
            <a:endParaRPr lang="ar-EG" sz="2799" b="1">
              <a:solidFill>
                <a:srgbClr val="ECE2DA"/>
              </a:solidFill>
              <a:latin typeface="29LT Bukra Bold"/>
              <a:ea typeface="29LT Bukra Bold"/>
              <a:cs typeface="29LT Bukra Bold"/>
              <a:sym typeface="29LT Bukra Bold"/>
              <a:rtl/>
            </a:endParaRPr>
          </a:p>
          <a:p>
            <a:pPr algn="l">
              <a:lnSpc>
                <a:spcPts val="3863"/>
              </a:lnSpc>
            </a:pPr>
            <a:endParaRPr lang="ar-EG" sz="2799" b="1">
              <a:solidFill>
                <a:srgbClr val="ECE2DA"/>
              </a:solidFill>
              <a:latin typeface="29LT Bukra Bold"/>
              <a:ea typeface="29LT Bukra Bold"/>
              <a:cs typeface="29LT Bukra Bold"/>
              <a:sym typeface="29LT Bukra Bold"/>
              <a:rtl/>
            </a:endParaRPr>
          </a:p>
          <a:p>
            <a:pPr algn="r" rtl="1">
              <a:lnSpc>
                <a:spcPts val="3863"/>
              </a:lnSpc>
            </a:pPr>
            <a:endParaRPr lang="ar-EG" sz="2799" b="1">
              <a:solidFill>
                <a:srgbClr val="ECE2DA"/>
              </a:solidFill>
              <a:latin typeface="29LT Bukra Bold"/>
              <a:ea typeface="29LT Bukra Bold"/>
              <a:cs typeface="29LT Bukra Bold"/>
              <a:sym typeface="29LT Bukra Bold"/>
              <a:rtl/>
            </a:endParaRPr>
          </a:p>
          <a:p>
            <a:pPr marL="604519" lvl="1" indent="-302260" algn="r" rtl="1">
              <a:lnSpc>
                <a:spcPts val="3863"/>
              </a:lnSpc>
              <a:buFont typeface="Arial"/>
              <a:buChar char="•"/>
            </a:pPr>
            <a:r>
              <a:rPr lang="ar-EG" sz="27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تحديات في عملية  التدريب : </a:t>
            </a:r>
          </a:p>
          <a:p>
            <a:pPr marL="1209039" lvl="2" indent="-403013" algn="r" rtl="1">
              <a:lnSpc>
                <a:spcPts val="3863"/>
              </a:lnSpc>
              <a:buFont typeface="Arial"/>
              <a:buChar char="⚬"/>
            </a:pPr>
            <a:r>
              <a:rPr lang="ar-EG" sz="27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حجم البيانات الكبير </a:t>
            </a:r>
          </a:p>
          <a:p>
            <a:pPr marL="1209039" lvl="2" indent="-403013" algn="r" rtl="1">
              <a:lnSpc>
                <a:spcPts val="3863"/>
              </a:lnSpc>
              <a:buFont typeface="Arial"/>
              <a:buChar char="⚬"/>
            </a:pPr>
            <a:r>
              <a:rPr lang="ar-EG" sz="27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زمن التدريب الطويل</a:t>
            </a:r>
          </a:p>
          <a:p>
            <a:pPr marL="1209039" lvl="2" indent="-403013" algn="r" rtl="1">
              <a:lnSpc>
                <a:spcPts val="3863"/>
              </a:lnSpc>
              <a:buFont typeface="Arial"/>
              <a:buChar char="⚬"/>
            </a:pPr>
            <a:r>
              <a:rPr lang="ar-EG" sz="2799" b="1">
                <a:solidFill>
                  <a:srgbClr val="ECE2DA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المقايسس لا تعكس دائما جودة النص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58110" y="3005919"/>
            <a:ext cx="7121490" cy="4450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r" rtl="1">
              <a:lnSpc>
                <a:spcPts val="3863"/>
              </a:lnSpc>
              <a:buFont typeface="Arial"/>
              <a:buChar char="•"/>
            </a:pPr>
            <a:r>
              <a:rPr lang="ar-EG" sz="2799" b="1">
                <a:solidFill>
                  <a:srgbClr val="303030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إدارة الموارد بفعالية أفضل من خلال:</a:t>
            </a:r>
          </a:p>
          <a:p>
            <a:pPr marL="1209039" lvl="2" indent="-403013" algn="r" rtl="1">
              <a:lnSpc>
                <a:spcPts val="3863"/>
              </a:lnSpc>
              <a:buFont typeface="Arial"/>
              <a:buChar char="⚬"/>
            </a:pPr>
            <a:r>
              <a:rPr lang="ar-EG" sz="2799" b="1">
                <a:solidFill>
                  <a:srgbClr val="303030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تقليل ال </a:t>
            </a:r>
            <a:r>
              <a:rPr lang="en-US" sz="2799" b="1">
                <a:solidFill>
                  <a:srgbClr val="303030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PATCH_SIZE</a:t>
            </a:r>
          </a:p>
          <a:p>
            <a:pPr marL="1209039" lvl="2" indent="-403013" algn="r" rtl="1">
              <a:lnSpc>
                <a:spcPts val="3863"/>
              </a:lnSpc>
              <a:buFont typeface="Arial"/>
              <a:buChar char="⚬"/>
            </a:pPr>
            <a:r>
              <a:rPr lang="ar-EG" sz="2799" b="1">
                <a:solidFill>
                  <a:srgbClr val="303030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استخدام ال </a:t>
            </a:r>
            <a:r>
              <a:rPr lang="en-US" sz="2799" b="1">
                <a:solidFill>
                  <a:srgbClr val="303030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MIXED PRECISION</a:t>
            </a:r>
          </a:p>
          <a:p>
            <a:pPr algn="r" rtl="1">
              <a:lnSpc>
                <a:spcPts val="3863"/>
              </a:lnSpc>
            </a:pPr>
            <a:endParaRPr lang="en-US" sz="2799" b="1">
              <a:solidFill>
                <a:srgbClr val="303030"/>
              </a:solidFill>
              <a:latin typeface="29LT Bukra Bold"/>
              <a:ea typeface="29LT Bukra Bold"/>
              <a:cs typeface="29LT Bukra Bold"/>
              <a:sym typeface="29LT Bukra Bold"/>
            </a:endParaRPr>
          </a:p>
          <a:p>
            <a:pPr marL="604519" lvl="1" indent="-302260" algn="r" rtl="1">
              <a:lnSpc>
                <a:spcPts val="3863"/>
              </a:lnSpc>
              <a:buFont typeface="Arial"/>
              <a:buChar char="•"/>
            </a:pPr>
            <a:r>
              <a:rPr lang="ar-EG" sz="2799" b="1">
                <a:solidFill>
                  <a:srgbClr val="303030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الاعتماد على التقييم البشري لتحسين جودة التوصيف </a:t>
            </a:r>
          </a:p>
          <a:p>
            <a:pPr algn="r" rtl="1">
              <a:lnSpc>
                <a:spcPts val="3863"/>
              </a:lnSpc>
            </a:pPr>
            <a:endParaRPr lang="ar-EG" sz="2799" b="1">
              <a:solidFill>
                <a:srgbClr val="303030"/>
              </a:solidFill>
              <a:latin typeface="29LT Bukra Bold"/>
              <a:ea typeface="29LT Bukra Bold"/>
              <a:cs typeface="29LT Bukra Bold"/>
              <a:sym typeface="29LT Bukra Bold"/>
              <a:rtl/>
            </a:endParaRPr>
          </a:p>
          <a:p>
            <a:pPr marL="604519" lvl="1" indent="-302260" algn="r" rtl="1">
              <a:lnSpc>
                <a:spcPts val="3863"/>
              </a:lnSpc>
              <a:buFont typeface="Arial"/>
              <a:buChar char="•"/>
            </a:pPr>
            <a:r>
              <a:rPr lang="ar-EG" sz="2799" b="1">
                <a:solidFill>
                  <a:srgbClr val="303030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قم بتجربة النموذج على مجموعة بيانات جزئية أولا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2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740436" y="90525"/>
            <a:ext cx="3157306" cy="607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5" lvl="1" indent="-323852" algn="ctr" rtl="1">
              <a:lnSpc>
                <a:spcPts val="4140"/>
              </a:lnSpc>
              <a:spcBef>
                <a:spcPct val="0"/>
              </a:spcBef>
              <a:buFont typeface="Arial"/>
              <a:buChar char="•"/>
            </a:pPr>
            <a:r>
              <a:rPr lang="ar-EG" sz="3000" b="1">
                <a:solidFill>
                  <a:srgbClr val="303030"/>
                </a:solidFill>
                <a:latin typeface="29LT Bukra Bold"/>
                <a:ea typeface="29LT Bukra Bold"/>
                <a:cs typeface="29LT Bukra Bold"/>
                <a:sym typeface="29LT Bukra Bold"/>
                <a:rtl/>
              </a:rPr>
              <a:t>المراجع: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09522" y="942975"/>
            <a:ext cx="15449778" cy="8002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4581" lvl="1" indent="-202290" algn="l">
              <a:lnSpc>
                <a:spcPts val="2586"/>
              </a:lnSpc>
              <a:buAutoNum type="arabicPeriod"/>
            </a:pPr>
            <a:r>
              <a:rPr lang="en-US" sz="1873" b="1" dirty="0">
                <a:solidFill>
                  <a:srgbClr val="303030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I.COCO CONSORTIUM. (2015). MICROSOFT COCO API (PYCOCOTOOLS). RETRIEVED FROM </a:t>
            </a:r>
            <a:r>
              <a:rPr lang="en-US" sz="1873" b="1" u="none" dirty="0">
                <a:solidFill>
                  <a:srgbClr val="303030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II.DEVLIN, J., CHANG, M.-W., LEE, K., &amp; TOUTANOVA, K. (2019). </a:t>
            </a:r>
            <a:endParaRPr lang="ar-SY" sz="1873" b="1" u="none" dirty="0">
              <a:solidFill>
                <a:srgbClr val="303030"/>
              </a:solidFill>
              <a:latin typeface="29LT Bukra Bold"/>
              <a:ea typeface="29LT Bukra Bold"/>
              <a:cs typeface="29LT Bukra Bold"/>
              <a:sym typeface="29LT Bukra Bold"/>
            </a:endParaRPr>
          </a:p>
          <a:p>
            <a:pPr marL="404581" lvl="1" indent="-202290" algn="l">
              <a:lnSpc>
                <a:spcPts val="2586"/>
              </a:lnSpc>
              <a:buAutoNum type="arabicPeriod"/>
            </a:pPr>
            <a:r>
              <a:rPr lang="en-US" sz="1873" b="1" u="none" dirty="0">
                <a:solidFill>
                  <a:srgbClr val="303030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III.HUNTER, J. D. (2007). MATPLOTLIB: A 2D GRAPHICS ENVIRONMENT. COMPUTING IN SCIENCE &amp; ENGINEERING, 9(3), 90–95. HTTPS://DOI.ORG/10.1109/MCSE.2007.55</a:t>
            </a:r>
          </a:p>
          <a:p>
            <a:pPr marL="404581" lvl="1" indent="-202290" algn="l">
              <a:lnSpc>
                <a:spcPts val="2586"/>
              </a:lnSpc>
              <a:buAutoNum type="arabicPeriod"/>
            </a:pPr>
            <a:r>
              <a:rPr lang="en-US" sz="1873" b="1" u="none" dirty="0">
                <a:solidFill>
                  <a:srgbClr val="303030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   IV.LIN, C.-Y. (2004). ROUGE: A PACKAGE FOR AUTOMATIC EVALUATION OF SUMMARIES. TEXT SUMMARIZATION BRANCHES OUT: PROCEEDINGS OF THE ACL-04 WORKSHOP, 74–81.</a:t>
            </a:r>
          </a:p>
          <a:p>
            <a:pPr marL="404581" lvl="1" indent="-202290" algn="l">
              <a:lnSpc>
                <a:spcPts val="2586"/>
              </a:lnSpc>
              <a:buAutoNum type="arabicPeriod"/>
            </a:pPr>
            <a:r>
              <a:rPr lang="en-US" sz="1873" b="1" u="none" dirty="0">
                <a:solidFill>
                  <a:srgbClr val="303030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V.LIN, T.-Y., MAIRE, M., BELONGIE, S., HAYS, J., PERONA, P., RAMANAN, D., … &amp; ZITNICK, C. L. (2014). MICROSOFT COCO: COMMON OBJECTS IN CONTEXT. EUROPEAN CONFERENCE ON COMPUTER VISION (ECCV), 740–755. SPRINGER.</a:t>
            </a:r>
          </a:p>
          <a:p>
            <a:pPr marL="404581" lvl="1" indent="-202290" algn="l">
              <a:lnSpc>
                <a:spcPts val="2586"/>
              </a:lnSpc>
              <a:buAutoNum type="arabicPeriod"/>
            </a:pPr>
            <a:r>
              <a:rPr lang="en-US" sz="1873" b="1" u="none" dirty="0">
                <a:solidFill>
                  <a:srgbClr val="303030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   VI.PAPINENI, K., ROUKOS, S., WARD, T., &amp; ZHU, W. J. (2002). BLEU: A METHOD FOR AUTOMATIC EVALUATION OF MACHINE TRANSLATION. PROCEEDINGS OF THE 40TH ANNUAL MEETING OF THE ASSOCIATION FOR COMPUTATIONAL LINGUISTICS (ACL), 311–318.</a:t>
            </a:r>
          </a:p>
          <a:p>
            <a:pPr marL="404581" lvl="1" indent="-202290" algn="l">
              <a:lnSpc>
                <a:spcPts val="2586"/>
              </a:lnSpc>
              <a:buAutoNum type="arabicPeriod"/>
            </a:pPr>
            <a:r>
              <a:rPr lang="en-US" sz="1873" b="1" u="none" dirty="0">
                <a:solidFill>
                  <a:srgbClr val="303030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 VII.PASZKE, A., GROSS, S., MASSA, F., LERER, A., BRADBURY, J., CHANAN, G., … &amp; CHINTALA, S. (2019). PYTORCH: AN IMPERATIVE STYLE, HIGH-PERFORMANCE DEEP LEARNING LIBRARY. ADVANCES IN NEURAL INFORMATION PROCESSING SYSTEMS (NEURIPS), 8026–8037.</a:t>
            </a:r>
          </a:p>
          <a:p>
            <a:pPr marL="404581" lvl="1" indent="-202290" algn="l">
              <a:lnSpc>
                <a:spcPts val="2586"/>
              </a:lnSpc>
              <a:buAutoNum type="arabicPeriod"/>
            </a:pPr>
            <a:r>
              <a:rPr lang="en-US" sz="1873" b="1" u="none" dirty="0">
                <a:solidFill>
                  <a:srgbClr val="303030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IX.VASWANI, A., SHAZEER, N., PARMAR, N., USZKOREIT, J., JONES, L., GOMEZ, A. N., KAISER, Ł., &amp; POLOSUKHIN, I. (2017). ATTENTION IS ALL YOU NEED. ADVANCES IN NEURAL INFORMATION PROCESSING SYSTEMS (NEURIPS), 5998–6008.</a:t>
            </a:r>
          </a:p>
          <a:p>
            <a:pPr marL="404581" lvl="1" indent="-202290" algn="l">
              <a:lnSpc>
                <a:spcPts val="2586"/>
              </a:lnSpc>
              <a:buAutoNum type="arabicPeriod"/>
            </a:pPr>
            <a:r>
              <a:rPr lang="en-US" sz="1873" b="1" u="none" dirty="0">
                <a:solidFill>
                  <a:srgbClr val="303030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X.WOLF, T., DEBUT, L., SANH, V., CHAUMOND, J., DELANGUE, C., MOI, A., … &amp; RUSH, A. M. (2020). TRANSFORMERS: STATE-OF-THE-ART NATURAL LANGUAGE PROCESSING. PROCEEDINGS OF THE 2020 CONFERENCE ON EMPIRICAL METHODS IN NATURAL LANGUAGE PROCESSING: SYSTEM DEMONSTRATIONS, 38–45.</a:t>
            </a:r>
          </a:p>
          <a:p>
            <a:pPr marL="404581" lvl="1" indent="-202290" algn="l">
              <a:lnSpc>
                <a:spcPts val="2586"/>
              </a:lnSpc>
              <a:buAutoNum type="arabicPeriod"/>
            </a:pPr>
            <a:r>
              <a:rPr lang="en-US" sz="1873" b="1" u="none" dirty="0">
                <a:solidFill>
                  <a:srgbClr val="303030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   XI.DOSOVITSKIY, A., BEYER, L., KOLESNIKOV, A., WEISSENBORN, D., ZHAI, X., UNTERTHINER, T., … &amp; HOULSBY, N. (2021). AN IMAGE IS WORTH 16X16 WORDS: TRANSFORMERS FOR IMAGE RECOGNITION AT SCALE. INTERNATIONAL CONFERENCE ON LEARNING REPRESENTATIONS (ICLR). HTTPS://ARXIV.ORG/ABS/2010.11929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713</Words>
  <Application>Microsoft Office PowerPoint</Application>
  <PresentationFormat>مخصص</PresentationFormat>
  <Paragraphs>85</Paragraphs>
  <Slides>12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12</vt:i4>
      </vt:variant>
    </vt:vector>
  </HeadingPairs>
  <TitlesOfParts>
    <vt:vector size="17" baseType="lpstr">
      <vt:lpstr>Arial</vt:lpstr>
      <vt:lpstr>Calibri</vt:lpstr>
      <vt:lpstr>29LT Bukra</vt:lpstr>
      <vt:lpstr>29LT Bukra Bold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captioning using an AI model with the Transformer concept</dc:title>
  <cp:lastModifiedBy>maged hujira</cp:lastModifiedBy>
  <cp:revision>4</cp:revision>
  <dcterms:created xsi:type="dcterms:W3CDTF">2006-08-16T00:00:00Z</dcterms:created>
  <dcterms:modified xsi:type="dcterms:W3CDTF">2025-09-15T06:08:35Z</dcterms:modified>
  <dc:identifier>DAGy_vGRZlQ</dc:identifier>
</cp:coreProperties>
</file>